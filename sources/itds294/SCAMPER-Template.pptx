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60" r:id="rId5"/>
    <p:sldId id="26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2900"/>
    <a:srgbClr val="FF2B02"/>
    <a:srgbClr val="F505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72" autoAdjust="0"/>
    <p:restoredTop sz="94660"/>
  </p:normalViewPr>
  <p:slideViewPr>
    <p:cSldViewPr snapToGrid="0">
      <p:cViewPr varScale="1">
        <p:scale>
          <a:sx n="131" d="100"/>
          <a:sy n="131" d="100"/>
        </p:scale>
        <p:origin x="536"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85353-6BC0-4CE5-B273-47FC67B4FB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0F0AAC-8C08-40D6-AD7F-C8F11E2014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684838-A0BE-4D12-BCE5-0CBEED7AE84C}"/>
              </a:ext>
            </a:extLst>
          </p:cNvPr>
          <p:cNvSpPr>
            <a:spLocks noGrp="1"/>
          </p:cNvSpPr>
          <p:nvPr>
            <p:ph type="dt" sz="half" idx="10"/>
          </p:nvPr>
        </p:nvSpPr>
        <p:spPr/>
        <p:txBody>
          <a:bodyPr/>
          <a:lstStyle/>
          <a:p>
            <a:fld id="{EFFBDDF0-6D3C-4277-AB36-132ECC7ACCF5}" type="datetimeFigureOut">
              <a:rPr lang="en-US" smtClean="0"/>
              <a:t>9/27/24</a:t>
            </a:fld>
            <a:endParaRPr lang="en-US"/>
          </a:p>
        </p:txBody>
      </p:sp>
      <p:sp>
        <p:nvSpPr>
          <p:cNvPr id="5" name="Footer Placeholder 4">
            <a:extLst>
              <a:ext uri="{FF2B5EF4-FFF2-40B4-BE49-F238E27FC236}">
                <a16:creationId xmlns:a16="http://schemas.microsoft.com/office/drawing/2014/main" id="{73755855-54F0-4596-A7EC-A2A5848103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581D82-7428-463D-9CDF-A017450A1F95}"/>
              </a:ext>
            </a:extLst>
          </p:cNvPr>
          <p:cNvSpPr>
            <a:spLocks noGrp="1"/>
          </p:cNvSpPr>
          <p:nvPr>
            <p:ph type="sldNum" sz="quarter" idx="12"/>
          </p:nvPr>
        </p:nvSpPr>
        <p:spPr/>
        <p:txBody>
          <a:bodyPr/>
          <a:lstStyle/>
          <a:p>
            <a:fld id="{823A4800-D636-418A-9240-5C2AA67518C1}" type="slidenum">
              <a:rPr lang="en-US" smtClean="0"/>
              <a:t>‹#›</a:t>
            </a:fld>
            <a:endParaRPr lang="en-US"/>
          </a:p>
        </p:txBody>
      </p:sp>
    </p:spTree>
    <p:extLst>
      <p:ext uri="{BB962C8B-B14F-4D97-AF65-F5344CB8AC3E}">
        <p14:creationId xmlns:p14="http://schemas.microsoft.com/office/powerpoint/2010/main" val="1405407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B8FDA-6EFA-402F-BA18-D8A0CA49CA3B}"/>
              </a:ext>
            </a:extLst>
          </p:cNvPr>
          <p:cNvSpPr>
            <a:spLocks noGrp="1"/>
          </p:cNvSpPr>
          <p:nvPr>
            <p:ph type="title"/>
          </p:nvPr>
        </p:nvSpPr>
        <p:spPr>
          <a:xfrm>
            <a:off x="2703194" y="136525"/>
            <a:ext cx="9389745" cy="544512"/>
          </a:xfrm>
          <a:noFill/>
        </p:spPr>
        <p:txBody>
          <a:bodyPr>
            <a:normAutofit/>
          </a:bodyPr>
          <a:lstStyle>
            <a:lvl1pPr algn="l">
              <a:defRPr sz="2800">
                <a:solidFill>
                  <a:schemeClr val="accent1"/>
                </a:solidFill>
                <a:latin typeface="Roboto Black" panose="02000000000000000000" pitchFamily="2" charset="0"/>
                <a:ea typeface="Roboto Black" panose="02000000000000000000" pitchFamily="2"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928EDA21-BAD3-45C7-B145-D99949002A38}"/>
              </a:ext>
            </a:extLst>
          </p:cNvPr>
          <p:cNvSpPr>
            <a:spLocks noGrp="1"/>
          </p:cNvSpPr>
          <p:nvPr>
            <p:ph idx="1"/>
          </p:nvPr>
        </p:nvSpPr>
        <p:spPr>
          <a:xfrm>
            <a:off x="234315" y="977265"/>
            <a:ext cx="11727180" cy="4473893"/>
          </a:xfrm>
        </p:spPr>
        <p:txBody>
          <a:bodyPr>
            <a:normAutofit/>
          </a:bodyPr>
          <a:lstStyle>
            <a:lvl1pPr>
              <a:defRPr sz="2400">
                <a:latin typeface="Roboto" panose="02000000000000000000" pitchFamily="2" charset="0"/>
                <a:ea typeface="Roboto" panose="02000000000000000000" pitchFamily="2" charset="0"/>
              </a:defRPr>
            </a:lvl1pPr>
            <a:lvl2pPr>
              <a:defRPr sz="2000">
                <a:latin typeface="Roboto" panose="02000000000000000000" pitchFamily="2" charset="0"/>
                <a:ea typeface="Roboto" panose="02000000000000000000" pitchFamily="2" charset="0"/>
              </a:defRPr>
            </a:lvl2pPr>
            <a:lvl3pPr>
              <a:defRPr sz="1800">
                <a:latin typeface="Roboto" panose="02000000000000000000" pitchFamily="2" charset="0"/>
                <a:ea typeface="Roboto" panose="02000000000000000000" pitchFamily="2" charset="0"/>
              </a:defRPr>
            </a:lvl3pPr>
            <a:lvl4pPr>
              <a:defRPr sz="1600">
                <a:latin typeface="Roboto" panose="02000000000000000000" pitchFamily="2" charset="0"/>
                <a:ea typeface="Roboto" panose="02000000000000000000" pitchFamily="2" charset="0"/>
              </a:defRPr>
            </a:lvl4pPr>
            <a:lvl5pPr>
              <a:defRPr sz="1600">
                <a:latin typeface="Roboto" panose="02000000000000000000" pitchFamily="2" charset="0"/>
                <a:ea typeface="Roboto" panose="02000000000000000000" pitchFamily="2"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Content Placeholder 4">
            <a:extLst>
              <a:ext uri="{FF2B5EF4-FFF2-40B4-BE49-F238E27FC236}">
                <a16:creationId xmlns:a16="http://schemas.microsoft.com/office/drawing/2014/main" id="{05081DEC-99CD-4CAF-A96D-74B7E09D52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0970" y="136525"/>
            <a:ext cx="2172211" cy="618171"/>
          </a:xfrm>
          <a:prstGeom prst="rect">
            <a:avLst/>
          </a:prstGeom>
        </p:spPr>
      </p:pic>
    </p:spTree>
    <p:extLst>
      <p:ext uri="{BB962C8B-B14F-4D97-AF65-F5344CB8AC3E}">
        <p14:creationId xmlns:p14="http://schemas.microsoft.com/office/powerpoint/2010/main" val="1149268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E2042-CC77-45C5-9BCE-A5166D2FC9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670569-7EA2-49B9-BE0F-78A53BA300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3F0A1AB-3F9C-49C9-8000-F7F7424988F9}"/>
              </a:ext>
            </a:extLst>
          </p:cNvPr>
          <p:cNvSpPr>
            <a:spLocks noGrp="1"/>
          </p:cNvSpPr>
          <p:nvPr>
            <p:ph type="dt" sz="half" idx="10"/>
          </p:nvPr>
        </p:nvSpPr>
        <p:spPr/>
        <p:txBody>
          <a:bodyPr/>
          <a:lstStyle/>
          <a:p>
            <a:fld id="{EFFBDDF0-6D3C-4277-AB36-132ECC7ACCF5}" type="datetimeFigureOut">
              <a:rPr lang="en-US" smtClean="0"/>
              <a:t>9/27/24</a:t>
            </a:fld>
            <a:endParaRPr lang="en-US"/>
          </a:p>
        </p:txBody>
      </p:sp>
      <p:sp>
        <p:nvSpPr>
          <p:cNvPr id="5" name="Footer Placeholder 4">
            <a:extLst>
              <a:ext uri="{FF2B5EF4-FFF2-40B4-BE49-F238E27FC236}">
                <a16:creationId xmlns:a16="http://schemas.microsoft.com/office/drawing/2014/main" id="{5241C9EE-834A-4BEA-A9FB-F9B7ACBF1A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01CD3C-7E39-4921-8FFF-76E524A2D72E}"/>
              </a:ext>
            </a:extLst>
          </p:cNvPr>
          <p:cNvSpPr>
            <a:spLocks noGrp="1"/>
          </p:cNvSpPr>
          <p:nvPr>
            <p:ph type="sldNum" sz="quarter" idx="12"/>
          </p:nvPr>
        </p:nvSpPr>
        <p:spPr/>
        <p:txBody>
          <a:bodyPr/>
          <a:lstStyle/>
          <a:p>
            <a:fld id="{823A4800-D636-418A-9240-5C2AA67518C1}" type="slidenum">
              <a:rPr lang="en-US" smtClean="0"/>
              <a:t>‹#›</a:t>
            </a:fld>
            <a:endParaRPr lang="en-US"/>
          </a:p>
        </p:txBody>
      </p:sp>
    </p:spTree>
    <p:extLst>
      <p:ext uri="{BB962C8B-B14F-4D97-AF65-F5344CB8AC3E}">
        <p14:creationId xmlns:p14="http://schemas.microsoft.com/office/powerpoint/2010/main" val="3180288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1C587-32B4-4640-A083-EC1DBEF8F7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6533DA-BC94-4433-88C3-731D0C24BA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D103819-9C8A-45E5-B530-D884FEA72A4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C795BE-0B69-4148-8E4C-D41AB3E96A4C}"/>
              </a:ext>
            </a:extLst>
          </p:cNvPr>
          <p:cNvSpPr>
            <a:spLocks noGrp="1"/>
          </p:cNvSpPr>
          <p:nvPr>
            <p:ph type="dt" sz="half" idx="10"/>
          </p:nvPr>
        </p:nvSpPr>
        <p:spPr/>
        <p:txBody>
          <a:bodyPr/>
          <a:lstStyle/>
          <a:p>
            <a:fld id="{EFFBDDF0-6D3C-4277-AB36-132ECC7ACCF5}" type="datetimeFigureOut">
              <a:rPr lang="en-US" smtClean="0"/>
              <a:t>9/27/24</a:t>
            </a:fld>
            <a:endParaRPr lang="en-US"/>
          </a:p>
        </p:txBody>
      </p:sp>
      <p:sp>
        <p:nvSpPr>
          <p:cNvPr id="6" name="Footer Placeholder 5">
            <a:extLst>
              <a:ext uri="{FF2B5EF4-FFF2-40B4-BE49-F238E27FC236}">
                <a16:creationId xmlns:a16="http://schemas.microsoft.com/office/drawing/2014/main" id="{B3901E83-09FC-4AA4-AB1C-388C4FBA0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4D7968-8D82-4C47-8199-500BD3CDFB3E}"/>
              </a:ext>
            </a:extLst>
          </p:cNvPr>
          <p:cNvSpPr>
            <a:spLocks noGrp="1"/>
          </p:cNvSpPr>
          <p:nvPr>
            <p:ph type="sldNum" sz="quarter" idx="12"/>
          </p:nvPr>
        </p:nvSpPr>
        <p:spPr/>
        <p:txBody>
          <a:bodyPr/>
          <a:lstStyle/>
          <a:p>
            <a:fld id="{823A4800-D636-418A-9240-5C2AA67518C1}" type="slidenum">
              <a:rPr lang="en-US" smtClean="0"/>
              <a:t>‹#›</a:t>
            </a:fld>
            <a:endParaRPr lang="en-US"/>
          </a:p>
        </p:txBody>
      </p:sp>
    </p:spTree>
    <p:extLst>
      <p:ext uri="{BB962C8B-B14F-4D97-AF65-F5344CB8AC3E}">
        <p14:creationId xmlns:p14="http://schemas.microsoft.com/office/powerpoint/2010/main" val="893069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16822-B212-467D-A72B-1F5346864C3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A989B0-7917-4A46-8927-CDA33D3DDA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6C1245F-205B-42B3-AC05-39AEDA93D42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14FF6E-0492-4720-AC71-68754530F1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FCB9B71-9E73-4F0A-8887-9B015B73E46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56888E-B0CE-40A0-B355-616B77DF2A9C}"/>
              </a:ext>
            </a:extLst>
          </p:cNvPr>
          <p:cNvSpPr>
            <a:spLocks noGrp="1"/>
          </p:cNvSpPr>
          <p:nvPr>
            <p:ph type="dt" sz="half" idx="10"/>
          </p:nvPr>
        </p:nvSpPr>
        <p:spPr/>
        <p:txBody>
          <a:bodyPr/>
          <a:lstStyle/>
          <a:p>
            <a:fld id="{EFFBDDF0-6D3C-4277-AB36-132ECC7ACCF5}" type="datetimeFigureOut">
              <a:rPr lang="en-US" smtClean="0"/>
              <a:t>9/27/24</a:t>
            </a:fld>
            <a:endParaRPr lang="en-US"/>
          </a:p>
        </p:txBody>
      </p:sp>
      <p:sp>
        <p:nvSpPr>
          <p:cNvPr id="8" name="Footer Placeholder 7">
            <a:extLst>
              <a:ext uri="{FF2B5EF4-FFF2-40B4-BE49-F238E27FC236}">
                <a16:creationId xmlns:a16="http://schemas.microsoft.com/office/drawing/2014/main" id="{BC795D28-BC1C-4BBD-9B0E-1A68884D1E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473609-DDC8-4EA1-A568-66279B1CA3E8}"/>
              </a:ext>
            </a:extLst>
          </p:cNvPr>
          <p:cNvSpPr>
            <a:spLocks noGrp="1"/>
          </p:cNvSpPr>
          <p:nvPr>
            <p:ph type="sldNum" sz="quarter" idx="12"/>
          </p:nvPr>
        </p:nvSpPr>
        <p:spPr/>
        <p:txBody>
          <a:bodyPr/>
          <a:lstStyle/>
          <a:p>
            <a:fld id="{823A4800-D636-418A-9240-5C2AA67518C1}" type="slidenum">
              <a:rPr lang="en-US" smtClean="0"/>
              <a:t>‹#›</a:t>
            </a:fld>
            <a:endParaRPr lang="en-US"/>
          </a:p>
        </p:txBody>
      </p:sp>
    </p:spTree>
    <p:extLst>
      <p:ext uri="{BB962C8B-B14F-4D97-AF65-F5344CB8AC3E}">
        <p14:creationId xmlns:p14="http://schemas.microsoft.com/office/powerpoint/2010/main" val="1266482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983F2-F99B-4B9E-9E0C-A53E423A1B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FAE7E2-C3CD-4403-B210-0A4BB7AC2D17}"/>
              </a:ext>
            </a:extLst>
          </p:cNvPr>
          <p:cNvSpPr>
            <a:spLocks noGrp="1"/>
          </p:cNvSpPr>
          <p:nvPr>
            <p:ph type="dt" sz="half" idx="10"/>
          </p:nvPr>
        </p:nvSpPr>
        <p:spPr/>
        <p:txBody>
          <a:bodyPr/>
          <a:lstStyle/>
          <a:p>
            <a:fld id="{EFFBDDF0-6D3C-4277-AB36-132ECC7ACCF5}" type="datetimeFigureOut">
              <a:rPr lang="en-US" smtClean="0"/>
              <a:t>9/27/24</a:t>
            </a:fld>
            <a:endParaRPr lang="en-US"/>
          </a:p>
        </p:txBody>
      </p:sp>
      <p:sp>
        <p:nvSpPr>
          <p:cNvPr id="4" name="Footer Placeholder 3">
            <a:extLst>
              <a:ext uri="{FF2B5EF4-FFF2-40B4-BE49-F238E27FC236}">
                <a16:creationId xmlns:a16="http://schemas.microsoft.com/office/drawing/2014/main" id="{3265E928-B3C5-4713-94FE-4F34B6604A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AC1BD4-75A6-482E-A55A-40D0114CAF77}"/>
              </a:ext>
            </a:extLst>
          </p:cNvPr>
          <p:cNvSpPr>
            <a:spLocks noGrp="1"/>
          </p:cNvSpPr>
          <p:nvPr>
            <p:ph type="sldNum" sz="quarter" idx="12"/>
          </p:nvPr>
        </p:nvSpPr>
        <p:spPr/>
        <p:txBody>
          <a:bodyPr/>
          <a:lstStyle/>
          <a:p>
            <a:fld id="{823A4800-D636-418A-9240-5C2AA67518C1}" type="slidenum">
              <a:rPr lang="en-US" smtClean="0"/>
              <a:t>‹#›</a:t>
            </a:fld>
            <a:endParaRPr lang="en-US"/>
          </a:p>
        </p:txBody>
      </p:sp>
    </p:spTree>
    <p:extLst>
      <p:ext uri="{BB962C8B-B14F-4D97-AF65-F5344CB8AC3E}">
        <p14:creationId xmlns:p14="http://schemas.microsoft.com/office/powerpoint/2010/main" val="2927147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523168-666F-4812-868F-341647933B5F}"/>
              </a:ext>
            </a:extLst>
          </p:cNvPr>
          <p:cNvSpPr>
            <a:spLocks noGrp="1"/>
          </p:cNvSpPr>
          <p:nvPr>
            <p:ph type="dt" sz="half" idx="10"/>
          </p:nvPr>
        </p:nvSpPr>
        <p:spPr/>
        <p:txBody>
          <a:bodyPr/>
          <a:lstStyle/>
          <a:p>
            <a:fld id="{EFFBDDF0-6D3C-4277-AB36-132ECC7ACCF5}" type="datetimeFigureOut">
              <a:rPr lang="en-US" smtClean="0"/>
              <a:t>9/27/24</a:t>
            </a:fld>
            <a:endParaRPr lang="en-US"/>
          </a:p>
        </p:txBody>
      </p:sp>
      <p:sp>
        <p:nvSpPr>
          <p:cNvPr id="3" name="Footer Placeholder 2">
            <a:extLst>
              <a:ext uri="{FF2B5EF4-FFF2-40B4-BE49-F238E27FC236}">
                <a16:creationId xmlns:a16="http://schemas.microsoft.com/office/drawing/2014/main" id="{0DB3CE5F-01A8-4E4D-8740-49EFC1B0800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68F3D4-ED99-43FB-A237-275897DD6CAC}"/>
              </a:ext>
            </a:extLst>
          </p:cNvPr>
          <p:cNvSpPr>
            <a:spLocks noGrp="1"/>
          </p:cNvSpPr>
          <p:nvPr>
            <p:ph type="sldNum" sz="quarter" idx="12"/>
          </p:nvPr>
        </p:nvSpPr>
        <p:spPr/>
        <p:txBody>
          <a:bodyPr/>
          <a:lstStyle/>
          <a:p>
            <a:fld id="{823A4800-D636-418A-9240-5C2AA67518C1}" type="slidenum">
              <a:rPr lang="en-US" smtClean="0"/>
              <a:t>‹#›</a:t>
            </a:fld>
            <a:endParaRPr lang="en-US"/>
          </a:p>
        </p:txBody>
      </p:sp>
    </p:spTree>
    <p:extLst>
      <p:ext uri="{BB962C8B-B14F-4D97-AF65-F5344CB8AC3E}">
        <p14:creationId xmlns:p14="http://schemas.microsoft.com/office/powerpoint/2010/main" val="794072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77A15-DB52-4036-A374-0575059C42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CC78AB1-D37A-446E-95F5-1116CB8427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B86C48-2453-477D-B98E-C964D229BB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2BD4943-AA8E-4DA5-8829-180D8CE4C895}"/>
              </a:ext>
            </a:extLst>
          </p:cNvPr>
          <p:cNvSpPr>
            <a:spLocks noGrp="1"/>
          </p:cNvSpPr>
          <p:nvPr>
            <p:ph type="dt" sz="half" idx="10"/>
          </p:nvPr>
        </p:nvSpPr>
        <p:spPr/>
        <p:txBody>
          <a:bodyPr/>
          <a:lstStyle/>
          <a:p>
            <a:fld id="{EFFBDDF0-6D3C-4277-AB36-132ECC7ACCF5}" type="datetimeFigureOut">
              <a:rPr lang="en-US" smtClean="0"/>
              <a:t>9/27/24</a:t>
            </a:fld>
            <a:endParaRPr lang="en-US"/>
          </a:p>
        </p:txBody>
      </p:sp>
      <p:sp>
        <p:nvSpPr>
          <p:cNvPr id="6" name="Footer Placeholder 5">
            <a:extLst>
              <a:ext uri="{FF2B5EF4-FFF2-40B4-BE49-F238E27FC236}">
                <a16:creationId xmlns:a16="http://schemas.microsoft.com/office/drawing/2014/main" id="{BE7D66BC-F88E-42FB-9E61-30B347E4ED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5F4173-41A1-4ACC-AB44-620F344D6552}"/>
              </a:ext>
            </a:extLst>
          </p:cNvPr>
          <p:cNvSpPr>
            <a:spLocks noGrp="1"/>
          </p:cNvSpPr>
          <p:nvPr>
            <p:ph type="sldNum" sz="quarter" idx="12"/>
          </p:nvPr>
        </p:nvSpPr>
        <p:spPr/>
        <p:txBody>
          <a:bodyPr/>
          <a:lstStyle/>
          <a:p>
            <a:fld id="{823A4800-D636-418A-9240-5C2AA67518C1}" type="slidenum">
              <a:rPr lang="en-US" smtClean="0"/>
              <a:t>‹#›</a:t>
            </a:fld>
            <a:endParaRPr lang="en-US"/>
          </a:p>
        </p:txBody>
      </p:sp>
    </p:spTree>
    <p:extLst>
      <p:ext uri="{BB962C8B-B14F-4D97-AF65-F5344CB8AC3E}">
        <p14:creationId xmlns:p14="http://schemas.microsoft.com/office/powerpoint/2010/main" val="1382629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F792F-AC31-4468-ADCD-669D6B18BC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4656C1-4803-4F0A-93E1-A2AC20A37D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1CD8DF-8C1B-4704-A6F8-C38D150607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73B821A-075E-4694-B831-56753F06560E}"/>
              </a:ext>
            </a:extLst>
          </p:cNvPr>
          <p:cNvSpPr>
            <a:spLocks noGrp="1"/>
          </p:cNvSpPr>
          <p:nvPr>
            <p:ph type="dt" sz="half" idx="10"/>
          </p:nvPr>
        </p:nvSpPr>
        <p:spPr/>
        <p:txBody>
          <a:bodyPr/>
          <a:lstStyle/>
          <a:p>
            <a:fld id="{EFFBDDF0-6D3C-4277-AB36-132ECC7ACCF5}" type="datetimeFigureOut">
              <a:rPr lang="en-US" smtClean="0"/>
              <a:t>9/27/24</a:t>
            </a:fld>
            <a:endParaRPr lang="en-US"/>
          </a:p>
        </p:txBody>
      </p:sp>
      <p:sp>
        <p:nvSpPr>
          <p:cNvPr id="6" name="Footer Placeholder 5">
            <a:extLst>
              <a:ext uri="{FF2B5EF4-FFF2-40B4-BE49-F238E27FC236}">
                <a16:creationId xmlns:a16="http://schemas.microsoft.com/office/drawing/2014/main" id="{A3B65BE6-0E82-40E5-809A-4CABF25743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92A1F4-AD55-4B4C-925F-74D3B3B28278}"/>
              </a:ext>
            </a:extLst>
          </p:cNvPr>
          <p:cNvSpPr>
            <a:spLocks noGrp="1"/>
          </p:cNvSpPr>
          <p:nvPr>
            <p:ph type="sldNum" sz="quarter" idx="12"/>
          </p:nvPr>
        </p:nvSpPr>
        <p:spPr/>
        <p:txBody>
          <a:bodyPr/>
          <a:lstStyle/>
          <a:p>
            <a:fld id="{823A4800-D636-418A-9240-5C2AA67518C1}" type="slidenum">
              <a:rPr lang="en-US" smtClean="0"/>
              <a:t>‹#›</a:t>
            </a:fld>
            <a:endParaRPr lang="en-US"/>
          </a:p>
        </p:txBody>
      </p:sp>
    </p:spTree>
    <p:extLst>
      <p:ext uri="{BB962C8B-B14F-4D97-AF65-F5344CB8AC3E}">
        <p14:creationId xmlns:p14="http://schemas.microsoft.com/office/powerpoint/2010/main" val="722906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8851D-1079-4505-AFA6-FC0A745294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34F9E3-B323-4C58-8491-FD97DD3F474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790971-DF4C-4DA7-862B-26E0C3B35F48}"/>
              </a:ext>
            </a:extLst>
          </p:cNvPr>
          <p:cNvSpPr>
            <a:spLocks noGrp="1"/>
          </p:cNvSpPr>
          <p:nvPr>
            <p:ph type="dt" sz="half" idx="10"/>
          </p:nvPr>
        </p:nvSpPr>
        <p:spPr/>
        <p:txBody>
          <a:bodyPr/>
          <a:lstStyle/>
          <a:p>
            <a:fld id="{EFFBDDF0-6D3C-4277-AB36-132ECC7ACCF5}" type="datetimeFigureOut">
              <a:rPr lang="en-US" smtClean="0"/>
              <a:t>9/27/24</a:t>
            </a:fld>
            <a:endParaRPr lang="en-US"/>
          </a:p>
        </p:txBody>
      </p:sp>
      <p:sp>
        <p:nvSpPr>
          <p:cNvPr id="5" name="Footer Placeholder 4">
            <a:extLst>
              <a:ext uri="{FF2B5EF4-FFF2-40B4-BE49-F238E27FC236}">
                <a16:creationId xmlns:a16="http://schemas.microsoft.com/office/drawing/2014/main" id="{F0DEEDC9-D7B8-403D-95FF-F9BF76D3C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513502-4EFA-4C86-8D3F-39FEDF742C85}"/>
              </a:ext>
            </a:extLst>
          </p:cNvPr>
          <p:cNvSpPr>
            <a:spLocks noGrp="1"/>
          </p:cNvSpPr>
          <p:nvPr>
            <p:ph type="sldNum" sz="quarter" idx="12"/>
          </p:nvPr>
        </p:nvSpPr>
        <p:spPr/>
        <p:txBody>
          <a:bodyPr/>
          <a:lstStyle/>
          <a:p>
            <a:fld id="{823A4800-D636-418A-9240-5C2AA67518C1}" type="slidenum">
              <a:rPr lang="en-US" smtClean="0"/>
              <a:t>‹#›</a:t>
            </a:fld>
            <a:endParaRPr lang="en-US"/>
          </a:p>
        </p:txBody>
      </p:sp>
    </p:spTree>
    <p:extLst>
      <p:ext uri="{BB962C8B-B14F-4D97-AF65-F5344CB8AC3E}">
        <p14:creationId xmlns:p14="http://schemas.microsoft.com/office/powerpoint/2010/main" val="2924098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A609AA-0A43-4E95-BD06-EF74F9FC71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3A8F4A-82F9-4787-A5F7-0EC6374BA2C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D96FC1-25AA-4957-A81D-2DF45F2B9C66}"/>
              </a:ext>
            </a:extLst>
          </p:cNvPr>
          <p:cNvSpPr>
            <a:spLocks noGrp="1"/>
          </p:cNvSpPr>
          <p:nvPr>
            <p:ph type="dt" sz="half" idx="10"/>
          </p:nvPr>
        </p:nvSpPr>
        <p:spPr/>
        <p:txBody>
          <a:bodyPr/>
          <a:lstStyle/>
          <a:p>
            <a:fld id="{EFFBDDF0-6D3C-4277-AB36-132ECC7ACCF5}" type="datetimeFigureOut">
              <a:rPr lang="en-US" smtClean="0"/>
              <a:t>9/27/24</a:t>
            </a:fld>
            <a:endParaRPr lang="en-US"/>
          </a:p>
        </p:txBody>
      </p:sp>
      <p:sp>
        <p:nvSpPr>
          <p:cNvPr id="5" name="Footer Placeholder 4">
            <a:extLst>
              <a:ext uri="{FF2B5EF4-FFF2-40B4-BE49-F238E27FC236}">
                <a16:creationId xmlns:a16="http://schemas.microsoft.com/office/drawing/2014/main" id="{1578D534-0756-407C-8C64-D118E2FFB9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A56886-0B6E-49F4-B116-753CAE713301}"/>
              </a:ext>
            </a:extLst>
          </p:cNvPr>
          <p:cNvSpPr>
            <a:spLocks noGrp="1"/>
          </p:cNvSpPr>
          <p:nvPr>
            <p:ph type="sldNum" sz="quarter" idx="12"/>
          </p:nvPr>
        </p:nvSpPr>
        <p:spPr/>
        <p:txBody>
          <a:bodyPr/>
          <a:lstStyle/>
          <a:p>
            <a:fld id="{823A4800-D636-418A-9240-5C2AA67518C1}" type="slidenum">
              <a:rPr lang="en-US" smtClean="0"/>
              <a:t>‹#›</a:t>
            </a:fld>
            <a:endParaRPr lang="en-US"/>
          </a:p>
        </p:txBody>
      </p:sp>
    </p:spTree>
    <p:extLst>
      <p:ext uri="{BB962C8B-B14F-4D97-AF65-F5344CB8AC3E}">
        <p14:creationId xmlns:p14="http://schemas.microsoft.com/office/powerpoint/2010/main" val="3476229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31B22F-98CF-4DC7-AAF9-210D6CCC85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3DEE29-D41E-4F4F-B7D1-2BE8502A67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03CC94-1763-499D-A4B9-40661130C0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FBDDF0-6D3C-4277-AB36-132ECC7ACCF5}" type="datetimeFigureOut">
              <a:rPr lang="en-US" smtClean="0"/>
              <a:t>9/27/24</a:t>
            </a:fld>
            <a:endParaRPr lang="en-US"/>
          </a:p>
        </p:txBody>
      </p:sp>
      <p:sp>
        <p:nvSpPr>
          <p:cNvPr id="5" name="Footer Placeholder 4">
            <a:extLst>
              <a:ext uri="{FF2B5EF4-FFF2-40B4-BE49-F238E27FC236}">
                <a16:creationId xmlns:a16="http://schemas.microsoft.com/office/drawing/2014/main" id="{C7BDEF65-32CD-44D6-B5EB-F84A0D8D11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AF3619E-CB98-4F58-8BA6-C12088DE12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3A4800-D636-418A-9240-5C2AA67518C1}" type="slidenum">
              <a:rPr lang="en-US" smtClean="0"/>
              <a:t>‹#›</a:t>
            </a:fld>
            <a:endParaRPr lang="en-US"/>
          </a:p>
        </p:txBody>
      </p:sp>
    </p:spTree>
    <p:extLst>
      <p:ext uri="{BB962C8B-B14F-4D97-AF65-F5344CB8AC3E}">
        <p14:creationId xmlns:p14="http://schemas.microsoft.com/office/powerpoint/2010/main" val="2711881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upboard.io/"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upboard.io/"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C0FA28-B511-4565-8C8A-44DEE740CC90}"/>
              </a:ext>
            </a:extLst>
          </p:cNvPr>
          <p:cNvSpPr>
            <a:spLocks noGrp="1"/>
          </p:cNvSpPr>
          <p:nvPr>
            <p:ph idx="1"/>
          </p:nvPr>
        </p:nvSpPr>
        <p:spPr>
          <a:xfrm>
            <a:off x="257175" y="1274445"/>
            <a:ext cx="11704320" cy="4176713"/>
          </a:xfrm>
        </p:spPr>
        <p:txBody>
          <a:bodyPr>
            <a:noAutofit/>
          </a:bodyPr>
          <a:lstStyle/>
          <a:p>
            <a:pPr marL="0" indent="0">
              <a:buNone/>
            </a:pPr>
            <a:r>
              <a:rPr lang="en-US" sz="2000" dirty="0">
                <a:solidFill>
                  <a:schemeClr val="bg2">
                    <a:lumMod val="50000"/>
                  </a:schemeClr>
                </a:solidFill>
                <a:latin typeface="+mn-lt"/>
              </a:rPr>
              <a:t>SCAMPER is an acronym that is used to help prompt creative ideas for improving existing products or services or creating new innovations. The letters in SCAMPER stand for substitute, combine, adapt, modify, put to another use, eliminate, and reverse. Each letter is associated with a string of questions that can be asked about existing products to discover methods of improvement or entirely new opportunities.</a:t>
            </a:r>
            <a:br>
              <a:rPr lang="en-US" sz="2000" dirty="0">
                <a:solidFill>
                  <a:schemeClr val="bg2">
                    <a:lumMod val="50000"/>
                  </a:schemeClr>
                </a:solidFill>
                <a:latin typeface="+mn-lt"/>
              </a:rPr>
            </a:br>
            <a:br>
              <a:rPr lang="en-US" sz="2000" dirty="0">
                <a:solidFill>
                  <a:schemeClr val="bg2">
                    <a:lumMod val="50000"/>
                  </a:schemeClr>
                </a:solidFill>
                <a:latin typeface="+mn-lt"/>
              </a:rPr>
            </a:br>
            <a:r>
              <a:rPr lang="en-US" sz="2000" dirty="0">
                <a:solidFill>
                  <a:schemeClr val="bg2">
                    <a:lumMod val="50000"/>
                  </a:schemeClr>
                </a:solidFill>
                <a:latin typeface="+mn-lt"/>
              </a:rPr>
              <a:t>As an innovation model and process tool, SCAMPER can be used to generate ideas for improving existing offerings or business processes or innovating completely new products and services. Whatever its purpose, your innovation team should brainstorm a list of as many answers to the questions as possible and determine, which, if any of them are a feasible solution that can be used either to refine existing products or services or fabricate new ones. The best ideas should then be further developed.</a:t>
            </a:r>
          </a:p>
          <a:p>
            <a:pPr marL="0" indent="0">
              <a:buNone/>
            </a:pPr>
            <a:br>
              <a:rPr lang="en-US" sz="2000" dirty="0">
                <a:solidFill>
                  <a:schemeClr val="bg2">
                    <a:lumMod val="50000"/>
                  </a:schemeClr>
                </a:solidFill>
              </a:rPr>
            </a:br>
            <a:br>
              <a:rPr lang="en-US" sz="2000" dirty="0">
                <a:solidFill>
                  <a:schemeClr val="bg2">
                    <a:lumMod val="50000"/>
                  </a:schemeClr>
                </a:solidFill>
              </a:rPr>
            </a:br>
            <a:endParaRPr lang="en-US" sz="2000" dirty="0">
              <a:solidFill>
                <a:schemeClr val="bg2">
                  <a:lumMod val="50000"/>
                </a:schemeClr>
              </a:solidFill>
            </a:endParaRPr>
          </a:p>
        </p:txBody>
      </p:sp>
      <p:sp>
        <p:nvSpPr>
          <p:cNvPr id="5" name="TextBox 4">
            <a:extLst>
              <a:ext uri="{FF2B5EF4-FFF2-40B4-BE49-F238E27FC236}">
                <a16:creationId xmlns:a16="http://schemas.microsoft.com/office/drawing/2014/main" id="{E1829E29-EF69-4153-95EC-9C1110DC19B6}"/>
              </a:ext>
            </a:extLst>
          </p:cNvPr>
          <p:cNvSpPr txBox="1"/>
          <p:nvPr/>
        </p:nvSpPr>
        <p:spPr>
          <a:xfrm>
            <a:off x="13335" y="6582975"/>
            <a:ext cx="12192000" cy="276999"/>
          </a:xfrm>
          <a:prstGeom prst="rect">
            <a:avLst/>
          </a:prstGeom>
          <a:solidFill>
            <a:schemeClr val="accent4">
              <a:lumMod val="20000"/>
              <a:lumOff val="80000"/>
            </a:schemeClr>
          </a:solidFill>
        </p:spPr>
        <p:txBody>
          <a:bodyPr wrap="square" rtlCol="0">
            <a:spAutoFit/>
          </a:bodyPr>
          <a:lstStyle/>
          <a:p>
            <a:pPr lvl="0" algn="ctr"/>
            <a:r>
              <a:rPr lang="en-US" sz="1200" kern="1200" dirty="0">
                <a:solidFill>
                  <a:schemeClr val="tx1"/>
                </a:solidFill>
                <a:effectLst/>
                <a:latin typeface="Roboto" panose="02000000000000000000" pitchFamily="2" charset="0"/>
                <a:ea typeface="Roboto" panose="02000000000000000000" pitchFamily="2" charset="0"/>
              </a:rPr>
              <a:t>Want more tools and templates? </a:t>
            </a:r>
            <a:r>
              <a:rPr lang="en-US" sz="1200" dirty="0">
                <a:latin typeface="Roboto" panose="02000000000000000000" pitchFamily="2" charset="0"/>
                <a:ea typeface="Roboto" panose="02000000000000000000" pitchFamily="2" charset="0"/>
              </a:rPr>
              <a:t>Visit </a:t>
            </a:r>
            <a:r>
              <a:rPr lang="en-US" sz="1200" dirty="0">
                <a:latin typeface="Roboto" panose="02000000000000000000" pitchFamily="2" charset="0"/>
                <a:ea typeface="Roboto" panose="02000000000000000000" pitchFamily="2" charset="0"/>
                <a:hlinkClick r:id="rId2"/>
              </a:rPr>
              <a:t>https://upboard.io/</a:t>
            </a:r>
            <a:r>
              <a:rPr lang="en-US" sz="1200" dirty="0">
                <a:latin typeface="Roboto" panose="02000000000000000000" pitchFamily="2" charset="0"/>
                <a:ea typeface="Roboto" panose="02000000000000000000" pitchFamily="2" charset="0"/>
              </a:rPr>
              <a:t> </a:t>
            </a:r>
            <a:endParaRPr lang="en-US" sz="1200" kern="1200" dirty="0">
              <a:solidFill>
                <a:schemeClr val="tx1"/>
              </a:solidFill>
              <a:effectLst/>
              <a:latin typeface="Roboto" panose="02000000000000000000" pitchFamily="2" charset="0"/>
              <a:ea typeface="Roboto" panose="02000000000000000000" pitchFamily="2" charset="0"/>
            </a:endParaRPr>
          </a:p>
        </p:txBody>
      </p:sp>
      <p:sp>
        <p:nvSpPr>
          <p:cNvPr id="7" name="Title 6">
            <a:extLst>
              <a:ext uri="{FF2B5EF4-FFF2-40B4-BE49-F238E27FC236}">
                <a16:creationId xmlns:a16="http://schemas.microsoft.com/office/drawing/2014/main" id="{0E5312BC-D894-4EF1-B411-739DA565E3FB}"/>
              </a:ext>
            </a:extLst>
          </p:cNvPr>
          <p:cNvSpPr>
            <a:spLocks noGrp="1"/>
          </p:cNvSpPr>
          <p:nvPr>
            <p:ph type="title"/>
          </p:nvPr>
        </p:nvSpPr>
        <p:spPr/>
        <p:txBody>
          <a:bodyPr/>
          <a:lstStyle/>
          <a:p>
            <a:r>
              <a:rPr lang="en-US" b="1" dirty="0">
                <a:latin typeface="Calibri" panose="020F0502020204030204" pitchFamily="34" charset="0"/>
                <a:cs typeface="Calibri" panose="020F0502020204030204" pitchFamily="34" charset="0"/>
              </a:rPr>
              <a:t>SCAMPER Template</a:t>
            </a:r>
          </a:p>
        </p:txBody>
      </p:sp>
    </p:spTree>
    <p:extLst>
      <p:ext uri="{BB962C8B-B14F-4D97-AF65-F5344CB8AC3E}">
        <p14:creationId xmlns:p14="http://schemas.microsoft.com/office/powerpoint/2010/main" val="1643245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1829E29-EF69-4153-95EC-9C1110DC19B6}"/>
              </a:ext>
            </a:extLst>
          </p:cNvPr>
          <p:cNvSpPr txBox="1"/>
          <p:nvPr/>
        </p:nvSpPr>
        <p:spPr>
          <a:xfrm>
            <a:off x="13335" y="6582975"/>
            <a:ext cx="12192000" cy="276999"/>
          </a:xfrm>
          <a:prstGeom prst="rect">
            <a:avLst/>
          </a:prstGeom>
          <a:solidFill>
            <a:schemeClr val="accent4">
              <a:lumMod val="20000"/>
              <a:lumOff val="80000"/>
            </a:schemeClr>
          </a:solidFill>
        </p:spPr>
        <p:txBody>
          <a:bodyPr wrap="square" rtlCol="0">
            <a:spAutoFit/>
          </a:bodyPr>
          <a:lstStyle/>
          <a:p>
            <a:pPr lvl="0" algn="ctr"/>
            <a:r>
              <a:rPr lang="en-US" sz="1200" kern="1200" dirty="0">
                <a:solidFill>
                  <a:schemeClr val="tx1"/>
                </a:solidFill>
                <a:effectLst/>
                <a:latin typeface="Roboto" panose="02000000000000000000" pitchFamily="2" charset="0"/>
                <a:ea typeface="Roboto" panose="02000000000000000000" pitchFamily="2" charset="0"/>
              </a:rPr>
              <a:t>Want more tools and templates? </a:t>
            </a:r>
            <a:r>
              <a:rPr lang="en-US" sz="1200" dirty="0">
                <a:latin typeface="Roboto" panose="02000000000000000000" pitchFamily="2" charset="0"/>
                <a:ea typeface="Roboto" panose="02000000000000000000" pitchFamily="2" charset="0"/>
              </a:rPr>
              <a:t>Visit </a:t>
            </a:r>
            <a:r>
              <a:rPr lang="en-US" sz="1200" dirty="0">
                <a:latin typeface="Roboto" panose="02000000000000000000" pitchFamily="2" charset="0"/>
                <a:ea typeface="Roboto" panose="02000000000000000000" pitchFamily="2" charset="0"/>
                <a:hlinkClick r:id="rId2"/>
              </a:rPr>
              <a:t>https://upboard.io/</a:t>
            </a:r>
            <a:r>
              <a:rPr lang="en-US" sz="1200" dirty="0">
                <a:latin typeface="Roboto" panose="02000000000000000000" pitchFamily="2" charset="0"/>
                <a:ea typeface="Roboto" panose="02000000000000000000" pitchFamily="2" charset="0"/>
              </a:rPr>
              <a:t> </a:t>
            </a:r>
            <a:endParaRPr lang="en-US" sz="1200" kern="1200" dirty="0">
              <a:solidFill>
                <a:schemeClr val="tx1"/>
              </a:solidFill>
              <a:effectLst/>
              <a:latin typeface="Roboto" panose="02000000000000000000" pitchFamily="2" charset="0"/>
              <a:ea typeface="Roboto" panose="02000000000000000000" pitchFamily="2" charset="0"/>
            </a:endParaRPr>
          </a:p>
        </p:txBody>
      </p:sp>
      <p:sp>
        <p:nvSpPr>
          <p:cNvPr id="7" name="Title 6">
            <a:extLst>
              <a:ext uri="{FF2B5EF4-FFF2-40B4-BE49-F238E27FC236}">
                <a16:creationId xmlns:a16="http://schemas.microsoft.com/office/drawing/2014/main" id="{0E5312BC-D894-4EF1-B411-739DA565E3FB}"/>
              </a:ext>
            </a:extLst>
          </p:cNvPr>
          <p:cNvSpPr>
            <a:spLocks noGrp="1"/>
          </p:cNvSpPr>
          <p:nvPr>
            <p:ph type="title"/>
          </p:nvPr>
        </p:nvSpPr>
        <p:spPr>
          <a:xfrm>
            <a:off x="2703194" y="136525"/>
            <a:ext cx="9389745" cy="544512"/>
          </a:xfrm>
        </p:spPr>
        <p:txBody>
          <a:bodyPr/>
          <a:lstStyle/>
          <a:p>
            <a:r>
              <a:rPr lang="en-US" b="1" dirty="0">
                <a:latin typeface="Calibri" panose="020F0502020204030204" pitchFamily="34" charset="0"/>
                <a:cs typeface="Calibri" panose="020F0502020204030204" pitchFamily="34" charset="0"/>
              </a:rPr>
              <a:t>SCAMPER Template</a:t>
            </a:r>
          </a:p>
        </p:txBody>
      </p:sp>
      <p:graphicFrame>
        <p:nvGraphicFramePr>
          <p:cNvPr id="4" name="Table 3">
            <a:extLst>
              <a:ext uri="{FF2B5EF4-FFF2-40B4-BE49-F238E27FC236}">
                <a16:creationId xmlns:a16="http://schemas.microsoft.com/office/drawing/2014/main" id="{7C94D53A-F528-1046-974B-F079A2A0D864}"/>
              </a:ext>
            </a:extLst>
          </p:cNvPr>
          <p:cNvGraphicFramePr>
            <a:graphicFrameLocks noGrp="1"/>
          </p:cNvGraphicFramePr>
          <p:nvPr>
            <p:extLst>
              <p:ext uri="{D42A27DB-BD31-4B8C-83A1-F6EECF244321}">
                <p14:modId xmlns:p14="http://schemas.microsoft.com/office/powerpoint/2010/main" val="3831151082"/>
              </p:ext>
            </p:extLst>
          </p:nvPr>
        </p:nvGraphicFramePr>
        <p:xfrm>
          <a:off x="255886" y="794318"/>
          <a:ext cx="11722148" cy="5675376"/>
        </p:xfrm>
        <a:graphic>
          <a:graphicData uri="http://schemas.openxmlformats.org/drawingml/2006/table">
            <a:tbl>
              <a:tblPr/>
              <a:tblGrid>
                <a:gridCol w="1819680">
                  <a:extLst>
                    <a:ext uri="{9D8B030D-6E8A-4147-A177-3AD203B41FA5}">
                      <a16:colId xmlns:a16="http://schemas.microsoft.com/office/drawing/2014/main" val="859089925"/>
                    </a:ext>
                  </a:extLst>
                </a:gridCol>
                <a:gridCol w="2137736">
                  <a:extLst>
                    <a:ext uri="{9D8B030D-6E8A-4147-A177-3AD203B41FA5}">
                      <a16:colId xmlns:a16="http://schemas.microsoft.com/office/drawing/2014/main" val="1105114230"/>
                    </a:ext>
                  </a:extLst>
                </a:gridCol>
                <a:gridCol w="7764732">
                  <a:extLst>
                    <a:ext uri="{9D8B030D-6E8A-4147-A177-3AD203B41FA5}">
                      <a16:colId xmlns:a16="http://schemas.microsoft.com/office/drawing/2014/main" val="2788805015"/>
                    </a:ext>
                  </a:extLst>
                </a:gridCol>
              </a:tblGrid>
              <a:tr h="406651">
                <a:tc>
                  <a:txBody>
                    <a:bodyPr/>
                    <a:lstStyle/>
                    <a:p>
                      <a:pPr algn="l" fontAlgn="ctr"/>
                      <a:r>
                        <a:rPr lang="en-US" sz="1600" b="1" i="0" u="none" strike="noStrike" dirty="0">
                          <a:solidFill>
                            <a:srgbClr val="FFFFFF"/>
                          </a:solidFill>
                          <a:effectLst/>
                          <a:latin typeface="Calibri" panose="020F0502020204030204" pitchFamily="34" charset="0"/>
                        </a:rPr>
                        <a:t>Substitute</a:t>
                      </a:r>
                    </a:p>
                    <a:p>
                      <a:pPr marL="0" marR="0" lvl="0" indent="0" algn="l" defTabSz="914400" rtl="0" eaLnBrk="1" fontAlgn="ctr" latinLnBrk="0" hangingPunct="1">
                        <a:lnSpc>
                          <a:spcPts val="4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8EA9DB"/>
                          </a:solidFill>
                          <a:effectLst/>
                          <a:uLnTx/>
                          <a:uFillTx/>
                          <a:latin typeface="Calibri" panose="020F0502020204030204" pitchFamily="34" charset="0"/>
                          <a:ea typeface="+mn-ea"/>
                          <a:cs typeface="+mn-cs"/>
                        </a:rPr>
                        <a:t>S</a:t>
                      </a:r>
                      <a:endParaRPr lang="en-US" sz="1600" b="1" i="0" u="none" strike="noStrike" dirty="0">
                        <a:solidFill>
                          <a:srgbClr val="FFFFFF"/>
                        </a:solidFill>
                        <a:effectLst/>
                        <a:latin typeface="Calibri" panose="020F0502020204030204" pitchFamily="34" charset="0"/>
                      </a:endParaRPr>
                    </a:p>
                  </a:txBody>
                  <a:tcPr marL="45720" marR="45720" marT="18288"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tc>
                  <a:txBody>
                    <a:bodyPr/>
                    <a:lstStyle/>
                    <a:p>
                      <a:pPr algn="l" fontAlgn="t"/>
                      <a:r>
                        <a:rPr lang="en-US" sz="1000" b="1" i="0" u="none" strike="noStrike" dirty="0">
                          <a:solidFill>
                            <a:srgbClr val="000000"/>
                          </a:solidFill>
                          <a:effectLst/>
                          <a:latin typeface="Calibri (Body)"/>
                        </a:rPr>
                        <a:t>What could replace what’s there to vastly improve it?</a:t>
                      </a:r>
                    </a:p>
                    <a:p>
                      <a:pPr algn="l" fontAlgn="t"/>
                      <a:r>
                        <a:rPr lang="en-US" sz="1000" b="0" i="0" u="none" strike="noStrike" dirty="0">
                          <a:solidFill>
                            <a:srgbClr val="000000"/>
                          </a:solidFill>
                          <a:effectLst/>
                          <a:latin typeface="Calibri (Body)"/>
                        </a:rPr>
                        <a:t>Use different elements as substitute for what currently exists.</a:t>
                      </a:r>
                    </a:p>
                  </a:txBody>
                  <a:tcPr marL="45720" marR="45720" marT="18288" marB="0">
                    <a:lnL w="12700" cap="flat" cmpd="sng" algn="ctr">
                      <a:solidFill>
                        <a:srgbClr val="FFFFFF"/>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pPr marL="171450" indent="-171450" algn="l" fontAlgn="t">
                        <a:buFont typeface="Arial" panose="020B0604020202020204" pitchFamily="34" charset="0"/>
                        <a:buChar char="•"/>
                      </a:pPr>
                      <a:endParaRPr lang="en-US" sz="1100" b="0" i="0" u="none" strike="noStrike" dirty="0">
                        <a:solidFill>
                          <a:srgbClr val="000000"/>
                        </a:solidFill>
                        <a:effectLst/>
                        <a:latin typeface="Calibri" panose="020F0502020204030204" pitchFamily="34" charset="0"/>
                      </a:endParaRPr>
                    </a:p>
                  </a:txBody>
                  <a:tcPr marL="45720" marR="45720" marT="18288"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2445484"/>
                  </a:ext>
                </a:extLst>
              </a:tr>
              <a:tr h="406651">
                <a:tc>
                  <a:txBody>
                    <a:bodyPr/>
                    <a:lstStyle/>
                    <a:p>
                      <a:pPr algn="l" fontAlgn="ctr"/>
                      <a:r>
                        <a:rPr lang="en-US" sz="1600" b="1" i="0" u="none" strike="noStrike" dirty="0">
                          <a:solidFill>
                            <a:srgbClr val="FFFFFF"/>
                          </a:solidFill>
                          <a:effectLst/>
                          <a:latin typeface="Calibri" panose="020F0502020204030204" pitchFamily="34" charset="0"/>
                        </a:rPr>
                        <a:t>Combine</a:t>
                      </a:r>
                    </a:p>
                    <a:p>
                      <a:pPr marL="0" marR="0" lvl="0" indent="0" algn="l" defTabSz="914400" rtl="0" eaLnBrk="1" fontAlgn="ctr" latinLnBrk="0" hangingPunct="1">
                        <a:lnSpc>
                          <a:spcPts val="4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8EA9DB"/>
                          </a:solidFill>
                          <a:effectLst/>
                          <a:uLnTx/>
                          <a:uFillTx/>
                          <a:latin typeface="Calibri" panose="020F0502020204030204" pitchFamily="34" charset="0"/>
                          <a:ea typeface="+mn-ea"/>
                          <a:cs typeface="+mn-cs"/>
                        </a:rPr>
                        <a:t>C</a:t>
                      </a:r>
                      <a:endParaRPr lang="en-US" sz="1600" b="1" i="0" u="none" strike="noStrike" dirty="0">
                        <a:solidFill>
                          <a:srgbClr val="FFFFFF"/>
                        </a:solidFill>
                        <a:effectLst/>
                        <a:latin typeface="Calibri" panose="020F0502020204030204" pitchFamily="34" charset="0"/>
                      </a:endParaRPr>
                    </a:p>
                  </a:txBody>
                  <a:tcPr marL="45720" marR="45720" marT="18288"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tc>
                  <a:txBody>
                    <a:bodyPr/>
                    <a:lstStyle/>
                    <a:p>
                      <a:pPr marL="0" algn="l" defTabSz="914400" rtl="0" eaLnBrk="1" fontAlgn="t" latinLnBrk="0" hangingPunct="1"/>
                      <a:r>
                        <a:rPr lang="en-US" sz="1000" b="1" i="0" u="none" strike="noStrike" kern="1200" dirty="0">
                          <a:solidFill>
                            <a:srgbClr val="000000"/>
                          </a:solidFill>
                          <a:effectLst/>
                          <a:latin typeface="Calibri (Body)"/>
                          <a:ea typeface="+mn-ea"/>
                          <a:cs typeface="+mn-cs"/>
                        </a:rPr>
                        <a:t>Could it be made part of a bigger solution?</a:t>
                      </a:r>
                      <a:endParaRPr lang="en-US" sz="1000" b="0" i="0" u="none" strike="noStrike" kern="1200" dirty="0">
                        <a:solidFill>
                          <a:srgbClr val="000000"/>
                        </a:solidFill>
                        <a:effectLst/>
                        <a:latin typeface="Calibri (Body)"/>
                        <a:ea typeface="+mn-ea"/>
                        <a:cs typeface="+mn-cs"/>
                      </a:endParaRPr>
                    </a:p>
                    <a:p>
                      <a:pPr marL="0" algn="l" defTabSz="914400" rtl="0" eaLnBrk="1" fontAlgn="t" latinLnBrk="0" hangingPunct="1"/>
                      <a:r>
                        <a:rPr lang="en-US" sz="1000" b="0" i="0" u="none" strike="noStrike" kern="1200" dirty="0">
                          <a:solidFill>
                            <a:srgbClr val="000000"/>
                          </a:solidFill>
                          <a:effectLst/>
                          <a:latin typeface="Calibri (Body)"/>
                          <a:ea typeface="+mn-ea"/>
                          <a:cs typeface="+mn-cs"/>
                        </a:rPr>
                        <a:t>Combine or bundle what exists with other elements or components to create something better.</a:t>
                      </a:r>
                      <a:endParaRPr lang="en-US" sz="1000" b="1" i="0" u="none" strike="noStrike" kern="1200" dirty="0">
                        <a:solidFill>
                          <a:srgbClr val="000000"/>
                        </a:solidFill>
                        <a:effectLst/>
                        <a:latin typeface="Calibri (Body)"/>
                        <a:ea typeface="+mn-ea"/>
                        <a:cs typeface="+mn-cs"/>
                      </a:endParaRPr>
                    </a:p>
                  </a:txBody>
                  <a:tcPr marL="45720" marR="45720" marT="18288" marB="0">
                    <a:lnL w="12700" cap="flat" cmpd="sng" algn="ctr">
                      <a:solidFill>
                        <a:srgbClr val="FFFFFF"/>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pPr marL="171450" indent="-171450" algn="l" fontAlgn="t">
                        <a:buFont typeface="Arial" panose="020B0604020202020204" pitchFamily="34" charset="0"/>
                        <a:buChar char="•"/>
                      </a:pPr>
                      <a:endParaRPr lang="en-US" sz="1100" b="0" i="0" u="none" strike="noStrike" dirty="0">
                        <a:solidFill>
                          <a:srgbClr val="000000"/>
                        </a:solidFill>
                        <a:effectLst/>
                        <a:latin typeface="Calibri" panose="020F0502020204030204" pitchFamily="34" charset="0"/>
                      </a:endParaRPr>
                    </a:p>
                  </a:txBody>
                  <a:tcPr marL="45720" marR="45720" marT="18288"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83977151"/>
                  </a:ext>
                </a:extLst>
              </a:tr>
              <a:tr h="406651">
                <a:tc>
                  <a:txBody>
                    <a:bodyPr/>
                    <a:lstStyle/>
                    <a:p>
                      <a:pPr algn="l" fontAlgn="ctr"/>
                      <a:r>
                        <a:rPr lang="en-US" sz="1600" b="1" i="0" u="none" strike="noStrike" dirty="0">
                          <a:solidFill>
                            <a:srgbClr val="FFFFFF"/>
                          </a:solidFill>
                          <a:effectLst/>
                          <a:latin typeface="Calibri" panose="020F0502020204030204" pitchFamily="34" charset="0"/>
                        </a:rPr>
                        <a:t>Adapt</a:t>
                      </a:r>
                    </a:p>
                    <a:p>
                      <a:pPr marL="0" marR="0" lvl="0" indent="0" algn="l" defTabSz="914400" rtl="0" eaLnBrk="1" fontAlgn="ctr" latinLnBrk="0" hangingPunct="1">
                        <a:lnSpc>
                          <a:spcPts val="4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8EA9DB"/>
                          </a:solidFill>
                          <a:effectLst/>
                          <a:uLnTx/>
                          <a:uFillTx/>
                          <a:latin typeface="Calibri" panose="020F0502020204030204" pitchFamily="34" charset="0"/>
                          <a:ea typeface="+mn-ea"/>
                          <a:cs typeface="+mn-cs"/>
                        </a:rPr>
                        <a:t>A</a:t>
                      </a:r>
                      <a:endParaRPr lang="en-US" sz="1600" b="1" i="0" u="none" strike="noStrike" dirty="0">
                        <a:solidFill>
                          <a:srgbClr val="FFFFFF"/>
                        </a:solidFill>
                        <a:effectLst/>
                        <a:latin typeface="Calibri" panose="020F0502020204030204" pitchFamily="34" charset="0"/>
                      </a:endParaRPr>
                    </a:p>
                  </a:txBody>
                  <a:tcPr marL="45720" marR="45720" marT="18288"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tc>
                  <a:txBody>
                    <a:bodyPr/>
                    <a:lstStyle/>
                    <a:p>
                      <a:pPr marL="0" algn="l" defTabSz="914400" rtl="0" eaLnBrk="1" fontAlgn="t" latinLnBrk="0" hangingPunct="1"/>
                      <a:r>
                        <a:rPr lang="en-US" sz="1000" b="1" i="0" u="none" strike="noStrike" kern="1200" dirty="0">
                          <a:solidFill>
                            <a:srgbClr val="000000"/>
                          </a:solidFill>
                          <a:effectLst/>
                          <a:latin typeface="Calibri (Body)"/>
                          <a:ea typeface="+mn-ea"/>
                          <a:cs typeface="+mn-cs"/>
                        </a:rPr>
                        <a:t>What can be modified and used in a different way?</a:t>
                      </a:r>
                      <a:endParaRPr lang="en-US" sz="1000" b="0" i="0" u="none" strike="noStrike" kern="1200" dirty="0">
                        <a:solidFill>
                          <a:srgbClr val="000000"/>
                        </a:solidFill>
                        <a:effectLst/>
                        <a:latin typeface="Calibri (Body)"/>
                        <a:ea typeface="+mn-ea"/>
                        <a:cs typeface="+mn-cs"/>
                      </a:endParaRPr>
                    </a:p>
                    <a:p>
                      <a:pPr marL="0" algn="l" defTabSz="914400" rtl="0" eaLnBrk="1" fontAlgn="t" latinLnBrk="0" hangingPunct="1"/>
                      <a:r>
                        <a:rPr lang="en-US" sz="1000" b="0" i="0" u="none" strike="noStrike" kern="1200" dirty="0">
                          <a:solidFill>
                            <a:srgbClr val="000000"/>
                          </a:solidFill>
                          <a:effectLst/>
                          <a:latin typeface="Calibri (Body)"/>
                          <a:ea typeface="+mn-ea"/>
                          <a:cs typeface="+mn-cs"/>
                        </a:rPr>
                        <a:t>Alter or change its function.</a:t>
                      </a:r>
                      <a:endParaRPr lang="en-US" sz="1000" b="1" i="0" u="none" strike="noStrike" kern="1200" dirty="0">
                        <a:solidFill>
                          <a:srgbClr val="000000"/>
                        </a:solidFill>
                        <a:effectLst/>
                        <a:latin typeface="Calibri (Body)"/>
                        <a:ea typeface="+mn-ea"/>
                        <a:cs typeface="+mn-cs"/>
                      </a:endParaRPr>
                    </a:p>
                  </a:txBody>
                  <a:tcPr marL="45720" marR="45720" marT="18288" marB="0">
                    <a:lnL w="12700" cap="flat" cmpd="sng" algn="ctr">
                      <a:solidFill>
                        <a:srgbClr val="FFFFFF"/>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pPr marL="171450" indent="-171450" algn="l" fontAlgn="t">
                        <a:buFont typeface="Arial" panose="020B0604020202020204" pitchFamily="34" charset="0"/>
                        <a:buChar char="•"/>
                      </a:pPr>
                      <a:endParaRPr lang="en-US" sz="1100" b="0" i="0" u="none" strike="noStrike" dirty="0">
                        <a:solidFill>
                          <a:srgbClr val="000000"/>
                        </a:solidFill>
                        <a:effectLst/>
                        <a:latin typeface="Calibri" panose="020F0502020204030204" pitchFamily="34" charset="0"/>
                      </a:endParaRPr>
                    </a:p>
                  </a:txBody>
                  <a:tcPr marL="45720" marR="45720" marT="18288"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88166689"/>
                  </a:ext>
                </a:extLst>
              </a:tr>
              <a:tr h="406651">
                <a:tc>
                  <a:txBody>
                    <a:bodyPr/>
                    <a:lstStyle/>
                    <a:p>
                      <a:pPr algn="l" fontAlgn="ctr"/>
                      <a:r>
                        <a:rPr lang="en-US" sz="1600" b="1" i="0" u="none" strike="noStrike" dirty="0">
                          <a:solidFill>
                            <a:srgbClr val="FFFFFF"/>
                          </a:solidFill>
                          <a:effectLst/>
                          <a:latin typeface="Calibri" panose="020F0502020204030204" pitchFamily="34" charset="0"/>
                        </a:rPr>
                        <a:t>Modify</a:t>
                      </a:r>
                    </a:p>
                    <a:p>
                      <a:pPr marL="0" marR="0" lvl="0" indent="0" algn="l" defTabSz="914400" rtl="0" eaLnBrk="1" fontAlgn="ctr" latinLnBrk="0" hangingPunct="1">
                        <a:lnSpc>
                          <a:spcPts val="4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8EA9DB"/>
                          </a:solidFill>
                          <a:effectLst/>
                          <a:uLnTx/>
                          <a:uFillTx/>
                          <a:latin typeface="Calibri" panose="020F0502020204030204" pitchFamily="34" charset="0"/>
                          <a:ea typeface="+mn-ea"/>
                          <a:cs typeface="+mn-cs"/>
                        </a:rPr>
                        <a:t>M</a:t>
                      </a:r>
                      <a:endParaRPr kumimoji="0" lang="en-US" sz="16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a:txBody>
                  <a:tcPr marL="45720" marR="45720" marT="18288"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tc>
                  <a:txBody>
                    <a:bodyPr/>
                    <a:lstStyle/>
                    <a:p>
                      <a:pPr marL="0" algn="l" defTabSz="914400" rtl="0" eaLnBrk="1" fontAlgn="t" latinLnBrk="0" hangingPunct="1"/>
                      <a:r>
                        <a:rPr lang="en-US" sz="1000" b="1" i="0" u="none" strike="noStrike" kern="1200" dirty="0">
                          <a:solidFill>
                            <a:srgbClr val="000000"/>
                          </a:solidFill>
                          <a:effectLst/>
                          <a:latin typeface="Calibri (Body)"/>
                          <a:ea typeface="+mn-ea"/>
                          <a:cs typeface="+mn-cs"/>
                        </a:rPr>
                        <a:t>What happens if dramatically change its size, shape, tone, frequency,…?</a:t>
                      </a:r>
                      <a:endParaRPr lang="en-US" sz="1000" b="0" i="0" u="none" strike="noStrike" kern="1200" dirty="0">
                        <a:solidFill>
                          <a:srgbClr val="000000"/>
                        </a:solidFill>
                        <a:effectLst/>
                        <a:latin typeface="Calibri (Body)"/>
                        <a:ea typeface="+mn-ea"/>
                        <a:cs typeface="+mn-cs"/>
                      </a:endParaRPr>
                    </a:p>
                    <a:p>
                      <a:pPr marL="0" algn="l" defTabSz="914400" rtl="0" eaLnBrk="1" fontAlgn="t" latinLnBrk="0" hangingPunct="1"/>
                      <a:r>
                        <a:rPr lang="en-US" sz="1000" b="0" i="0" u="none" strike="noStrike" kern="1200" dirty="0">
                          <a:solidFill>
                            <a:srgbClr val="000000"/>
                          </a:solidFill>
                          <a:effectLst/>
                          <a:latin typeface="Calibri (Body)"/>
                          <a:ea typeface="+mn-ea"/>
                          <a:cs typeface="+mn-cs"/>
                        </a:rPr>
                        <a:t>Modify what exists in its overall scale and scope.</a:t>
                      </a:r>
                      <a:endParaRPr lang="en-US" sz="1000" b="1" i="0" u="none" strike="noStrike" kern="1200" dirty="0">
                        <a:solidFill>
                          <a:srgbClr val="000000"/>
                        </a:solidFill>
                        <a:effectLst/>
                        <a:latin typeface="Calibri (Body)"/>
                        <a:ea typeface="+mn-ea"/>
                        <a:cs typeface="+mn-cs"/>
                      </a:endParaRPr>
                    </a:p>
                  </a:txBody>
                  <a:tcPr marL="45720" marR="45720" marT="18288" marB="0">
                    <a:lnL w="12700" cap="flat" cmpd="sng" algn="ctr">
                      <a:solidFill>
                        <a:srgbClr val="FFFFFF"/>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pPr marL="171450" indent="-171450" algn="l" fontAlgn="t">
                        <a:buFont typeface="Arial" panose="020B0604020202020204" pitchFamily="34" charset="0"/>
                        <a:buChar char="•"/>
                      </a:pPr>
                      <a:endParaRPr lang="en-US" sz="1100" b="0" i="0" u="none" strike="noStrike" dirty="0">
                        <a:solidFill>
                          <a:srgbClr val="000000"/>
                        </a:solidFill>
                        <a:effectLst/>
                        <a:latin typeface="Calibri" panose="020F0502020204030204" pitchFamily="34" charset="0"/>
                      </a:endParaRPr>
                    </a:p>
                  </a:txBody>
                  <a:tcPr marL="45720" marR="45720" marT="18288"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10584319"/>
                  </a:ext>
                </a:extLst>
              </a:tr>
              <a:tr h="406651">
                <a:tc>
                  <a:txBody>
                    <a:bodyPr/>
                    <a:lstStyle/>
                    <a:p>
                      <a:pPr algn="l" fontAlgn="ctr"/>
                      <a:r>
                        <a:rPr lang="en-US" sz="1600" b="1" i="0" u="none" strike="noStrike" dirty="0">
                          <a:solidFill>
                            <a:srgbClr val="FFFFFF"/>
                          </a:solidFill>
                          <a:effectLst/>
                          <a:latin typeface="Calibri" panose="020F0502020204030204" pitchFamily="34" charset="0"/>
                        </a:rPr>
                        <a:t>Put to Another Use</a:t>
                      </a:r>
                    </a:p>
                    <a:p>
                      <a:pPr marL="0" marR="0" lvl="0" indent="0" algn="l" defTabSz="914400" rtl="0" eaLnBrk="1" fontAlgn="ctr" latinLnBrk="0" hangingPunct="1">
                        <a:lnSpc>
                          <a:spcPts val="4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8EA9DB"/>
                          </a:solidFill>
                          <a:effectLst/>
                          <a:uLnTx/>
                          <a:uFillTx/>
                          <a:latin typeface="Calibri" panose="020F0502020204030204" pitchFamily="34" charset="0"/>
                          <a:ea typeface="+mn-ea"/>
                          <a:cs typeface="+mn-cs"/>
                        </a:rPr>
                        <a:t>P</a:t>
                      </a:r>
                      <a:endParaRPr lang="en-US" sz="1600" b="1" i="0" u="none" strike="noStrike" dirty="0">
                        <a:solidFill>
                          <a:srgbClr val="FFFFFF"/>
                        </a:solidFill>
                        <a:effectLst/>
                        <a:latin typeface="Calibri" panose="020F0502020204030204" pitchFamily="34" charset="0"/>
                      </a:endParaRPr>
                    </a:p>
                  </a:txBody>
                  <a:tcPr marL="45720" marR="45720" marT="18288"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tc>
                  <a:txBody>
                    <a:bodyPr/>
                    <a:lstStyle/>
                    <a:p>
                      <a:pPr marL="0" algn="l" defTabSz="914400" rtl="0" eaLnBrk="1" fontAlgn="t" latinLnBrk="0" hangingPunct="1"/>
                      <a:r>
                        <a:rPr lang="en-US" sz="1000" b="1" i="0" u="none" strike="noStrike" kern="1200" dirty="0">
                          <a:solidFill>
                            <a:srgbClr val="000000"/>
                          </a:solidFill>
                          <a:effectLst/>
                          <a:latin typeface="Calibri (Body)"/>
                          <a:ea typeface="+mn-ea"/>
                          <a:cs typeface="+mn-cs"/>
                        </a:rPr>
                        <a:t>What else can it be used for?</a:t>
                      </a:r>
                      <a:endParaRPr lang="en-US" sz="1000" b="0" i="0" u="none" strike="noStrike" kern="1200" dirty="0">
                        <a:solidFill>
                          <a:srgbClr val="000000"/>
                        </a:solidFill>
                        <a:effectLst/>
                        <a:latin typeface="Calibri (Body)"/>
                        <a:ea typeface="+mn-ea"/>
                        <a:cs typeface="+mn-cs"/>
                      </a:endParaRPr>
                    </a:p>
                    <a:p>
                      <a:pPr marL="0" algn="l" defTabSz="914400" rtl="0" eaLnBrk="1" fontAlgn="t" latinLnBrk="0" hangingPunct="1"/>
                      <a:r>
                        <a:rPr lang="en-US" sz="1000" b="0" i="0" u="none" strike="noStrike" kern="1200" dirty="0">
                          <a:solidFill>
                            <a:srgbClr val="000000"/>
                          </a:solidFill>
                          <a:effectLst/>
                          <a:latin typeface="Calibri (Body)"/>
                          <a:ea typeface="+mn-ea"/>
                          <a:cs typeface="+mn-cs"/>
                        </a:rPr>
                        <a:t>Use what existing as something for which it wasn’t originally intended.</a:t>
                      </a:r>
                      <a:endParaRPr lang="en-US" sz="1000" b="1" i="0" u="none" strike="noStrike" kern="1200" dirty="0">
                        <a:solidFill>
                          <a:srgbClr val="000000"/>
                        </a:solidFill>
                        <a:effectLst/>
                        <a:latin typeface="Calibri (Body)"/>
                        <a:ea typeface="+mn-ea"/>
                        <a:cs typeface="+mn-cs"/>
                      </a:endParaRPr>
                    </a:p>
                  </a:txBody>
                  <a:tcPr marL="45720" marR="45720" marT="18288" marB="0">
                    <a:lnL w="12700" cap="flat" cmpd="sng" algn="ctr">
                      <a:solidFill>
                        <a:srgbClr val="FFFFFF"/>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pPr marL="171450" indent="-171450" algn="l" fontAlgn="t">
                        <a:buFont typeface="Arial" panose="020B0604020202020204" pitchFamily="34" charset="0"/>
                        <a:buChar char="•"/>
                      </a:pPr>
                      <a:endParaRPr lang="en-US" sz="1100" b="0" i="0" u="none" strike="noStrike" dirty="0">
                        <a:solidFill>
                          <a:srgbClr val="000000"/>
                        </a:solidFill>
                        <a:effectLst/>
                        <a:latin typeface="Calibri" panose="020F0502020204030204" pitchFamily="34" charset="0"/>
                      </a:endParaRPr>
                    </a:p>
                  </a:txBody>
                  <a:tcPr marL="45720" marR="45720" marT="18288"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48889706"/>
                  </a:ext>
                </a:extLst>
              </a:tr>
              <a:tr h="406651">
                <a:tc>
                  <a:txBody>
                    <a:bodyPr/>
                    <a:lstStyle/>
                    <a:p>
                      <a:pPr algn="l" fontAlgn="ctr"/>
                      <a:r>
                        <a:rPr lang="en-US" sz="1600" b="1" i="0" u="none" strike="noStrike" dirty="0">
                          <a:solidFill>
                            <a:srgbClr val="FFFFFF"/>
                          </a:solidFill>
                          <a:effectLst/>
                          <a:latin typeface="Calibri" panose="020F0502020204030204" pitchFamily="34" charset="0"/>
                        </a:rPr>
                        <a:t>Eliminate</a:t>
                      </a:r>
                    </a:p>
                    <a:p>
                      <a:pPr marL="0" marR="0" lvl="0" indent="0" algn="l" defTabSz="914400" rtl="0" eaLnBrk="1" fontAlgn="ctr" latinLnBrk="0" hangingPunct="1">
                        <a:lnSpc>
                          <a:spcPts val="4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8EA9DB"/>
                          </a:solidFill>
                          <a:effectLst/>
                          <a:uLnTx/>
                          <a:uFillTx/>
                          <a:latin typeface="Calibri" panose="020F0502020204030204" pitchFamily="34" charset="0"/>
                          <a:ea typeface="+mn-ea"/>
                          <a:cs typeface="+mn-cs"/>
                        </a:rPr>
                        <a:t>E</a:t>
                      </a:r>
                      <a:endParaRPr lang="en-US" sz="1600" b="1" i="0" u="none" strike="noStrike" dirty="0">
                        <a:solidFill>
                          <a:srgbClr val="FFFFFF"/>
                        </a:solidFill>
                        <a:effectLst/>
                        <a:latin typeface="Calibri" panose="020F0502020204030204" pitchFamily="34" charset="0"/>
                      </a:endParaRPr>
                    </a:p>
                  </a:txBody>
                  <a:tcPr marL="45720" marR="45720" marT="18288"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tc>
                  <a:txBody>
                    <a:bodyPr/>
                    <a:lstStyle/>
                    <a:p>
                      <a:pPr marL="0" algn="l" defTabSz="914400" rtl="0" eaLnBrk="1" fontAlgn="t" latinLnBrk="0" hangingPunct="1"/>
                      <a:r>
                        <a:rPr lang="en-US" sz="1000" b="1" i="0" u="none" strike="noStrike" kern="1200" dirty="0">
                          <a:solidFill>
                            <a:srgbClr val="000000"/>
                          </a:solidFill>
                          <a:effectLst/>
                          <a:latin typeface="Calibri (Body)"/>
                          <a:ea typeface="+mn-ea"/>
                          <a:cs typeface="+mn-cs"/>
                        </a:rPr>
                        <a:t>What can be remove that actually improves things? </a:t>
                      </a:r>
                      <a:endParaRPr lang="en-US" sz="1000" b="0" i="0" u="none" strike="noStrike" kern="1200" dirty="0">
                        <a:solidFill>
                          <a:srgbClr val="000000"/>
                        </a:solidFill>
                        <a:effectLst/>
                        <a:latin typeface="Calibri (Body)"/>
                        <a:ea typeface="+mn-ea"/>
                        <a:cs typeface="+mn-cs"/>
                      </a:endParaRPr>
                    </a:p>
                    <a:p>
                      <a:pPr marL="0" algn="l" defTabSz="914400" rtl="0" eaLnBrk="1" fontAlgn="t" latinLnBrk="0" hangingPunct="1"/>
                      <a:r>
                        <a:rPr lang="en-US" sz="1000" b="0" i="0" u="none" strike="noStrike" kern="1200" dirty="0">
                          <a:solidFill>
                            <a:srgbClr val="000000"/>
                          </a:solidFill>
                          <a:effectLst/>
                          <a:latin typeface="Calibri (Body)"/>
                          <a:ea typeface="+mn-ea"/>
                          <a:cs typeface="+mn-cs"/>
                        </a:rPr>
                        <a:t>Eliminate features or attributes in ways that make it simpler.</a:t>
                      </a:r>
                      <a:endParaRPr lang="en-US" sz="1000" b="1" i="0" u="none" strike="noStrike" kern="1200" dirty="0">
                        <a:solidFill>
                          <a:srgbClr val="000000"/>
                        </a:solidFill>
                        <a:effectLst/>
                        <a:latin typeface="Calibri (Body)"/>
                        <a:ea typeface="+mn-ea"/>
                        <a:cs typeface="+mn-cs"/>
                      </a:endParaRPr>
                    </a:p>
                  </a:txBody>
                  <a:tcPr marL="45720" marR="45720" marT="18288" marB="0">
                    <a:lnL w="12700" cap="flat" cmpd="sng" algn="ctr">
                      <a:solidFill>
                        <a:srgbClr val="FFFFFF"/>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pPr marL="171450" indent="-171450" algn="l" fontAlgn="t">
                        <a:buFont typeface="Arial" panose="020B0604020202020204" pitchFamily="34" charset="0"/>
                        <a:buChar char="•"/>
                      </a:pPr>
                      <a:endParaRPr lang="en-US" sz="1100" b="0" i="0" u="none" strike="noStrike" dirty="0">
                        <a:solidFill>
                          <a:srgbClr val="000000"/>
                        </a:solidFill>
                        <a:effectLst/>
                        <a:latin typeface="Calibri" panose="020F0502020204030204" pitchFamily="34" charset="0"/>
                      </a:endParaRPr>
                    </a:p>
                  </a:txBody>
                  <a:tcPr marL="45720" marR="45720" marT="18288"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43149552"/>
                  </a:ext>
                </a:extLst>
              </a:tr>
              <a:tr h="406651">
                <a:tc>
                  <a:txBody>
                    <a:bodyPr/>
                    <a:lstStyle/>
                    <a:p>
                      <a:pPr algn="l" fontAlgn="ctr"/>
                      <a:r>
                        <a:rPr lang="en-US" sz="1600" b="1" i="0" u="none" strike="noStrike" dirty="0">
                          <a:solidFill>
                            <a:srgbClr val="FFFFFF"/>
                          </a:solidFill>
                          <a:effectLst/>
                          <a:latin typeface="Calibri" panose="020F0502020204030204" pitchFamily="34" charset="0"/>
                        </a:rPr>
                        <a:t>Reverse</a:t>
                      </a:r>
                    </a:p>
                    <a:p>
                      <a:pPr marL="0" marR="0" lvl="0" indent="0" algn="l" defTabSz="914400" rtl="0" eaLnBrk="1" fontAlgn="ctr" latinLnBrk="0" hangingPunct="1">
                        <a:lnSpc>
                          <a:spcPts val="4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8EA9DB"/>
                          </a:solidFill>
                          <a:effectLst/>
                          <a:uLnTx/>
                          <a:uFillTx/>
                          <a:latin typeface="Calibri" panose="020F0502020204030204" pitchFamily="34" charset="0"/>
                          <a:ea typeface="+mn-ea"/>
                          <a:cs typeface="+mn-cs"/>
                        </a:rPr>
                        <a:t>R</a:t>
                      </a:r>
                      <a:endParaRPr kumimoji="0" lang="en-US" sz="16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a:txBody>
                  <a:tcPr marL="45720" marR="45720" marT="18288"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75000"/>
                      </a:schemeClr>
                    </a:solidFill>
                  </a:tcPr>
                </a:tc>
                <a:tc>
                  <a:txBody>
                    <a:bodyPr/>
                    <a:lstStyle/>
                    <a:p>
                      <a:pPr marL="0" algn="l" defTabSz="914400" rtl="0" eaLnBrk="1" fontAlgn="t" latinLnBrk="0" hangingPunct="1"/>
                      <a:r>
                        <a:rPr lang="en-US" sz="1000" b="1" i="0" u="none" strike="noStrike" kern="1200" dirty="0">
                          <a:solidFill>
                            <a:srgbClr val="000000"/>
                          </a:solidFill>
                          <a:effectLst/>
                          <a:latin typeface="Calibri (Body)"/>
                          <a:ea typeface="+mn-ea"/>
                          <a:cs typeface="+mn-cs"/>
                        </a:rPr>
                        <a:t>How can move thing around to add value or create improvements? </a:t>
                      </a:r>
                      <a:endParaRPr lang="en-US" sz="1000" b="0" i="0" u="none" strike="noStrike" kern="1200" dirty="0">
                        <a:solidFill>
                          <a:srgbClr val="000000"/>
                        </a:solidFill>
                        <a:effectLst/>
                        <a:latin typeface="Calibri (Body)"/>
                        <a:ea typeface="+mn-ea"/>
                        <a:cs typeface="+mn-cs"/>
                      </a:endParaRPr>
                    </a:p>
                    <a:p>
                      <a:pPr marL="0" algn="l" defTabSz="914400" rtl="0" eaLnBrk="1" fontAlgn="t" latinLnBrk="0" hangingPunct="1"/>
                      <a:r>
                        <a:rPr lang="en-US" sz="1000" b="0" i="0" u="none" strike="noStrike" kern="1200" dirty="0">
                          <a:solidFill>
                            <a:srgbClr val="000000"/>
                          </a:solidFill>
                          <a:effectLst/>
                          <a:latin typeface="Calibri (Body)"/>
                          <a:ea typeface="+mn-ea"/>
                          <a:cs typeface="+mn-cs"/>
                        </a:rPr>
                        <a:t>Reverse the order of things or put in different sequence.</a:t>
                      </a:r>
                      <a:endParaRPr lang="en-US" sz="1000" b="1" i="0" u="none" strike="noStrike" kern="1200" dirty="0">
                        <a:solidFill>
                          <a:srgbClr val="000000"/>
                        </a:solidFill>
                        <a:effectLst/>
                        <a:latin typeface="Calibri (Body)"/>
                        <a:ea typeface="+mn-ea"/>
                        <a:cs typeface="+mn-cs"/>
                      </a:endParaRPr>
                    </a:p>
                  </a:txBody>
                  <a:tcPr marL="45720" marR="45720" marT="18288" marB="0">
                    <a:lnL w="12700" cap="flat" cmpd="sng" algn="ctr">
                      <a:solidFill>
                        <a:srgbClr val="FFFFFF"/>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pPr marL="171450" indent="-171450" algn="l" fontAlgn="t">
                        <a:buFont typeface="Arial" panose="020B0604020202020204" pitchFamily="34" charset="0"/>
                        <a:buChar char="•"/>
                      </a:pPr>
                      <a:endParaRPr lang="en-US" sz="1100" b="0" i="0" u="none" strike="noStrike" dirty="0">
                        <a:solidFill>
                          <a:srgbClr val="000000"/>
                        </a:solidFill>
                        <a:effectLst/>
                        <a:latin typeface="Calibri" panose="020F0502020204030204" pitchFamily="34" charset="0"/>
                      </a:endParaRPr>
                    </a:p>
                  </a:txBody>
                  <a:tcPr marL="45720" marR="45720" marT="18288"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4356773"/>
                  </a:ext>
                </a:extLst>
              </a:tr>
            </a:tbl>
          </a:graphicData>
        </a:graphic>
      </p:graphicFrame>
    </p:spTree>
    <p:extLst>
      <p:ext uri="{BB962C8B-B14F-4D97-AF65-F5344CB8AC3E}">
        <p14:creationId xmlns:p14="http://schemas.microsoft.com/office/powerpoint/2010/main" val="1967436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899AB1BC93D4E4D960A38F828B74F9A" ma:contentTypeVersion="9" ma:contentTypeDescription="Create a new document." ma:contentTypeScope="" ma:versionID="50cbc44397788b4434808b0e1e7a3615">
  <xsd:schema xmlns:xsd="http://www.w3.org/2001/XMLSchema" xmlns:xs="http://www.w3.org/2001/XMLSchema" xmlns:p="http://schemas.microsoft.com/office/2006/metadata/properties" xmlns:ns2="3c7d788f-59f0-4ee8-87d4-6b60b595ee8d" xmlns:ns3="2b6f4d9c-e67e-4634-a886-8566b3a998fa" targetNamespace="http://schemas.microsoft.com/office/2006/metadata/properties" ma:root="true" ma:fieldsID="04f4d911db0aedf61c310a51e40a826b" ns2:_="" ns3:_="">
    <xsd:import namespace="3c7d788f-59f0-4ee8-87d4-6b60b595ee8d"/>
    <xsd:import namespace="2b6f4d9c-e67e-4634-a886-8566b3a998f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EventHashCode" minOccurs="0"/>
                <xsd:element ref="ns3: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7d788f-59f0-4ee8-87d4-6b60b595ee8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b6f4d9c-e67e-4634-a886-8566b3a998fa"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A6BB515-2F14-43B0-8DC0-FB6315D4BDBC}">
  <ds:schemaRefs>
    <ds:schemaRef ds:uri="http://schemas.microsoft.com/sharepoint/v3/contenttype/forms"/>
  </ds:schemaRefs>
</ds:datastoreItem>
</file>

<file path=customXml/itemProps2.xml><?xml version="1.0" encoding="utf-8"?>
<ds:datastoreItem xmlns:ds="http://schemas.openxmlformats.org/officeDocument/2006/customXml" ds:itemID="{53C0CCCF-26B9-481C-8C22-86A5EA90731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7d788f-59f0-4ee8-87d4-6b60b595ee8d"/>
    <ds:schemaRef ds:uri="2b6f4d9c-e67e-4634-a886-8566b3a998f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D2720B-28F1-4100-8F03-3AFF0D1F5C1E}">
  <ds:schemaRefs>
    <ds:schemaRef ds:uri="http://purl.org/dc/terms/"/>
    <ds:schemaRef ds:uri="http://schemas.microsoft.com/office/infopath/2007/PartnerControls"/>
    <ds:schemaRef ds:uri="http://schemas.microsoft.com/office/2006/metadata/properties"/>
    <ds:schemaRef ds:uri="http://purl.org/dc/dcmitype/"/>
    <ds:schemaRef ds:uri="http://schemas.microsoft.com/office/2006/documentManagement/types"/>
    <ds:schemaRef ds:uri="http://purl.org/dc/elements/1.1/"/>
    <ds:schemaRef ds:uri="http://www.w3.org/XML/1998/namespace"/>
    <ds:schemaRef ds:uri="http://schemas.openxmlformats.org/package/2006/metadata/core-properties"/>
    <ds:schemaRef ds:uri="2b6f4d9c-e67e-4634-a886-8566b3a998fa"/>
    <ds:schemaRef ds:uri="3c7d788f-59f0-4ee8-87d4-6b60b595ee8d"/>
  </ds:schemaRefs>
</ds:datastoreItem>
</file>

<file path=docProps/app.xml><?xml version="1.0" encoding="utf-8"?>
<Properties xmlns="http://schemas.openxmlformats.org/officeDocument/2006/extended-properties" xmlns:vt="http://schemas.openxmlformats.org/officeDocument/2006/docPropsVTypes">
  <TotalTime>337</TotalTime>
  <Words>361</Words>
  <Application>Microsoft Macintosh PowerPoint</Application>
  <PresentationFormat>Widescreen</PresentationFormat>
  <Paragraphs>34</Paragraphs>
  <Slides>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Calibri</vt:lpstr>
      <vt:lpstr>Calibri (Body)</vt:lpstr>
      <vt:lpstr>Calibri Light</vt:lpstr>
      <vt:lpstr>Roboto</vt:lpstr>
      <vt:lpstr>Roboto Black</vt:lpstr>
      <vt:lpstr>Office Theme</vt:lpstr>
      <vt:lpstr>SCAMPER Template</vt:lpstr>
      <vt:lpstr>SCAMPER Template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Soren Kaplan</dc:creator>
  <cp:lastModifiedBy>Microsoft Office User</cp:lastModifiedBy>
  <cp:revision>38</cp:revision>
  <dcterms:created xsi:type="dcterms:W3CDTF">2018-02-04T00:01:51Z</dcterms:created>
  <dcterms:modified xsi:type="dcterms:W3CDTF">2024-09-27T04:36:53Z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0x010100D899AB1BC93D4E4D960A38F828B74F9A</vt:lpwstr>
  </property>
</Properties>
</file>